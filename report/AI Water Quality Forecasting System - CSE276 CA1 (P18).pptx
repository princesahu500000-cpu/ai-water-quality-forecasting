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A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80"/>
            <a:ext cx="10566400" cy="445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A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80"/>
            <a:ext cx="10566400" cy="445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71320"/>
            <a:ext cx="889000" cy="50800"/>
          </a:xfrm>
          <a:prstGeom prst="rect">
            <a:avLst/>
          </a:prstGeom>
          <a:solidFill>
            <a:srgbClr val="E07A1F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195072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AI Water Quality Forecasting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52044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D3D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CSE276: Artificial Intelligence Foundations | CA1 Project P18 | Team ZJ18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04640"/>
            <a:ext cx="189846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Prince Sahu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2B3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Reg. No. 12508888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062367" y="4104640"/>
            <a:ext cx="180681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Ridham Dadwal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2B3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Reg. No. 12514189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49377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D3D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Lovely Professional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3380264" cy="2228850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295450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water quality matters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529840"/>
            <a:ext cx="295450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Rivers carry pollution from cities, farms and industry, and their quality changes with season and rainfall.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23695"/>
            <a:ext cx="3380343" cy="2228850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79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forecast 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255520"/>
            <a:ext cx="295458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Monitoring shows today's quality. A forecast gives authorities time to treat water, warn users and plan.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23695"/>
            <a:ext cx="3380343" cy="2228850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79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this project does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255520"/>
            <a:ext cx="295458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Computes a Water Quality Index, forecasts it with AI models and shows alerts in a demo app.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Forecasting river water quality for early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177416"/>
            <a:ext cx="5124450" cy="2152650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2484120"/>
            <a:ext cx="46463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(SIH1694)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2680" y="2885441"/>
            <a:ext cx="4646371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Authorities need to know what river water quality will be soon, not only what it is today. We build a multivariate forecasting and decision-support system on public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51575" y="2177416"/>
            <a:ext cx="5124450" cy="2152650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8280" y="2484120"/>
            <a:ext cx="46463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93602" y="2885441"/>
            <a:ext cx="4603429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8678" indent="-218678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Clean multivariate water-quality data</a:t>
            </a:r>
            <a:endParaRPr lang="en-US" sz="1600" dirty="0"/>
          </a:p>
          <a:p>
            <a:pPr algn="l" marL="218678" indent="-218678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Compute a Water Quality Index (WQI)</a:t>
            </a:r>
            <a:endParaRPr lang="en-US" sz="1600" dirty="0"/>
          </a:p>
          <a:p>
            <a:pPr algn="l" marL="218678" indent="-218678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Forecast WQI and beat a naive baseline</a:t>
            </a:r>
            <a:endParaRPr lang="en-US" sz="1600" dirty="0"/>
          </a:p>
          <a:p>
            <a:pPr algn="l" marL="218678" indent="-218678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Turn forecasts into alerts in a demo app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System overview</a:t>
            </a:r>
            <a:endParaRPr lang="en-US" sz="3400" dirty="0"/>
          </a:p>
        </p:txBody>
      </p:sp>
      <p:pic>
        <p:nvPicPr>
          <p:cNvPr id="3" name="Image 0" descr="System overview: two pipelines feed one decision-support applic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33500" y="1592580"/>
            <a:ext cx="95250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548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A (real, yearly) and Part B (synthetic, daily) share one decision-support app.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A data: real Indian river stations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1,988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rows (station-years)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42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439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642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6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66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states and UTs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90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2003-14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90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yearly averages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620" y="3304539"/>
            <a:ext cx="1079195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Source: Kaggle "Indian water quality data" (Anbarivan.N.L), government-sourced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Parameters: temperature, DO, pH, conductivity, BOD, nitrate, fecal and total coliform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Not available: turbidity, daily or monthly readings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B data: synthetic daily series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4620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2,192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days, 2019 to 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42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4620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642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parameters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6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4620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66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missing per column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595757"/>
            <a:ext cx="2482850" cy="140081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9080" y="1851661"/>
            <a:ext cx="203017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4620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9080" y="2491739"/>
            <a:ext cx="2030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bad readings added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620" y="3304539"/>
            <a:ext cx="1079195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Why: no public daily river dataset found for this assignment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Design: annual temperature cycle, monsoon rise in turbidity and BOD, fall in conductivity and pH</a:t>
            </a:r>
            <a:endParaRPr lang="en-US" sz="1500" dirty="0"/>
          </a:p>
          <a:p>
            <a:pPr algn="l" marL="170180" indent="-1701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Smooth by design, so scores are optimistic and used only to validate the 7-day pipeline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Cleaning the real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57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516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Missing values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1869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Text "NAN" became missing and was never replaced by zero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95757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516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Station identity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56680" y="21869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About 6% of codes were "NAN"; location name used instead, rows with neither dropped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3132457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3883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State field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1880" y="37236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203 raw values became 20 states and UTs; location text split out, spellings unified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0775" y="3132457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33883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B8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Short histories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56680" y="37236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Average 4.5 years per station; at least a quarter have only one year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Water Quality Index (WQI)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57"/>
            <a:ext cx="5175250" cy="2477770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516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A: 0 to 100, higher is better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1996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Banded sub-scores, weights: DO 0.281, coliform 0.281, BOD 0.234, pH 0.165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2768600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Excellent 90+, Good 70-90, Medium 50-70, Bad 25-50, Very Bad below 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880" y="333756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1,955</a:t>
            </a: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station-years: Good 1,434, Excellent 219, Medium 195, Bad 93, Very Bad 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595757"/>
            <a:ext cx="5175250" cy="2477770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680" y="185166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B: higher is worse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56680" y="219963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Weighted arithmetic index from pH, DO, turbidity, conductivity and BOD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6680" y="2768600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Excellent up to 50, Good to 100, Poor to 200, Very Poor to 300, Unsafe above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6680" y="3337561"/>
            <a:ext cx="480334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Mean 94.7; Good 1,508 days, Poor 684 days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Forecasting setup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595754"/>
            <a:ext cx="5175250" cy="2237740"/>
          </a:xfrm>
          <a:prstGeom prst="roundRect">
            <a:avLst>
              <a:gd name="adj" fmla="val 4398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51664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A: next year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199642"/>
            <a:ext cx="480334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Readings and WQI in year t predict WQI in year t+1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252857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Time split: train 2003-2011 (898 pairs), test 2012-2013 (478 pairs)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880" y="3097529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Naive, Linear, Random Forest, XGBoost, plus delta versions that predict the change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595754"/>
            <a:ext cx="5175250" cy="2237740"/>
          </a:xfrm>
          <a:prstGeom prst="roundRect">
            <a:avLst>
              <a:gd name="adj" fmla="val 4398"/>
            </a:avLst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680" y="1851664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B: 7 days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56680" y="2199642"/>
            <a:ext cx="49161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Lags (0 to 14 days), 7-day rolling mean and seasonal terms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6680" y="2528571"/>
            <a:ext cx="480334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Time split: first 80% train, last 20% test (63 forecasts)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6680" y="2857500"/>
            <a:ext cx="480334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Naive, SARIMAX, Random Forest, XGBoost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14147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B7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Metrics: MAE, RMSE, R2 or MAPE, and category accuracy. No random splits.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Real data: modest gain over the naive baseline</a:t>
            </a:r>
            <a:endParaRPr lang="en-US" sz="3200" dirty="0"/>
          </a:p>
        </p:txBody>
      </p:sp>
      <p:pic>
        <p:nvPicPr>
          <p:cNvPr id="3" name="Image 0" descr="Part A model comparison: RMSE, MAE and category accurac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33500" y="1564642"/>
            <a:ext cx="9525000" cy="292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90442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Best model: Linear (delta), RMSE 5.72 and R2 0.844, about 7% below naive (6.16). Naive keeps the best MAE (3.75) and category accuracy (83.89%).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Real data: WQI categories and delta learning</a:t>
            </a:r>
            <a:endParaRPr lang="en-US" sz="3200" dirty="0"/>
          </a:p>
        </p:txBody>
      </p:sp>
      <p:pic>
        <p:nvPicPr>
          <p:cNvPr id="3" name="Image 0" descr="WQI category counts and RMSE of direct versus delta mod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33500" y="1564642"/>
            <a:ext cx="9525000" cy="349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3619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Predicting the change cut RMSE from 6.65 to 5.94 for Random Forest and from 7.08 to 6.19 for XGBoost.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Synthetic data: the 7-day pipeline works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802"/>
          <a:ext cx="10556240" cy="246888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Model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MAE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RMSE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MAPE (%)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Category accuracy (%)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XGBoost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3.75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4.85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4.32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96.83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Random Forest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3.93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5.13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4.51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98.41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SARIMAX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5.00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6.11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5.56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96.83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Naive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5.52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6.55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6.15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A2B36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96.83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34847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XGBoost RMSE is about 26% lower than naive. The series is smooth by design, so these scores are optimistic.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Decision-support app (Streamlit)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92579"/>
            <a:ext cx="5080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4" name="Image 0" descr="Real data tab, lower hal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617621"/>
            <a:ext cx="5067300" cy="2616915"/>
          </a:xfrm>
          <a:custGeom>
            <a:avLst/>
            <a:gdLst/>
            <a:ahLst/>
            <a:cxnLst/>
            <a:rect l="l" t="t" r="r" b="b"/>
            <a:pathLst>
              <a:path w="5067300" h="2616915">
                <a:moveTo>
                  <a:pt x="0" y="51158"/>
                </a:moveTo>
                <a:arcTo wR="69850" hR="69850" stAng="10800000" swAng="2825250"/>
                <a:lnTo>
                  <a:pt x="5045010" y="0"/>
                </a:lnTo>
                <a:arcTo wR="69850" hR="69850" stAng="18774750" swAng="2825250"/>
                <a:lnTo>
                  <a:pt x="5067300" y="2565758"/>
                </a:lnTo>
                <a:arcTo wR="69850" hR="69850" stAng="0" swAng="2825250"/>
                <a:lnTo>
                  <a:pt x="22290" y="2616915"/>
                </a:lnTo>
                <a:arcTo wR="69850" hR="69850" stAng="7974750" swAng="2825250"/>
                <a:close/>
              </a:path>
            </a:pathLst>
          </a:custGeom>
        </p:spPr>
      </p:pic>
      <p:sp>
        <p:nvSpPr>
          <p:cNvPr id="5" name="Shape 2"/>
          <p:cNvSpPr/>
          <p:nvPr/>
        </p:nvSpPr>
        <p:spPr>
          <a:xfrm>
            <a:off x="815975" y="1595754"/>
            <a:ext cx="5073650" cy="2660650"/>
          </a:xfrm>
          <a:prstGeom prst="roundRect">
            <a:avLst>
              <a:gd name="adj" fmla="val 2745"/>
            </a:avLst>
          </a:prstGeom>
          <a:noFill/>
          <a:ln w="6350">
            <a:solidFill>
              <a:srgbClr val="D9E2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361179"/>
            <a:ext cx="533704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Real data tab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4706621"/>
            <a:ext cx="533704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Readings, model comparison and the yearly trend for the chosen station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7600" y="1592579"/>
            <a:ext cx="5080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9" name="Image 1" descr="Synthetic tab with 7-day forecast and status">    </p:cNvPr>
          <p:cNvPicPr>
            <a:picLocks noChangeAspect="1"/>
          </p:cNvPicPr>
          <p:nvPr/>
        </p:nvPicPr>
        <p:blipFill>
          <a:blip r:embed="rId2"/>
          <a:srcRect l="-494" r="-494" t="0" b="0"/>
          <a:stretch/>
        </p:blipFill>
        <p:spPr>
          <a:xfrm>
            <a:off x="6203950" y="1598929"/>
            <a:ext cx="5067300" cy="2654300"/>
          </a:xfrm>
          <a:prstGeom prst="roundRect">
            <a:avLst>
              <a:gd name="adj" fmla="val 2632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6200775" y="1595754"/>
            <a:ext cx="5073650" cy="2660650"/>
          </a:xfrm>
          <a:prstGeom prst="roundRect">
            <a:avLst>
              <a:gd name="adj" fmla="val 2745"/>
            </a:avLst>
          </a:prstGeom>
          <a:noFill/>
          <a:ln w="6350">
            <a:solidFill>
              <a:srgbClr val="D9E2E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7600" y="4361179"/>
            <a:ext cx="533704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Synthetic tab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197600" y="4706621"/>
            <a:ext cx="533704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7-day forecast with status alert: acceptable, caution or alert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 and 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30800" cy="1747520"/>
          </a:xfrm>
          <a:prstGeom prst="roundRect">
            <a:avLst>
              <a:gd name="adj" fmla="val 5814"/>
            </a:avLst>
          </a:prstGeom>
          <a:solidFill>
            <a:srgbClr val="17405A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899921"/>
            <a:ext cx="4709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3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we found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2200" y="2288542"/>
            <a:ext cx="47091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Simple models predicting WQI change slightly beat the naive baseline on real yearly data. Year-to-year water quality is hard to beat with last year's value.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8400" y="1620521"/>
            <a:ext cx="5130800" cy="1747520"/>
          </a:xfrm>
          <a:prstGeom prst="roundRect">
            <a:avLst>
              <a:gd name="adj" fmla="val 5814"/>
            </a:avLst>
          </a:prstGeom>
          <a:solidFill>
            <a:srgbClr val="17405A"/>
          </a:solidFill>
          <a:ln/>
        </p:spPr>
      </p:sp>
      <p:sp>
        <p:nvSpPr>
          <p:cNvPr id="7" name="Text 5"/>
          <p:cNvSpPr/>
          <p:nvPr/>
        </p:nvSpPr>
        <p:spPr>
          <a:xfrm>
            <a:off x="6527800" y="1899921"/>
            <a:ext cx="47091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3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Limits and 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7800" y="2288542"/>
            <a:ext cx="47091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Yearly averages, short station histories, no significance test. Next: real daily or monthly data and live sensor feeds.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024879"/>
            <a:ext cx="65700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D3D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Code: https://github.com/princesahu500000-cpu/ai-water-quality-forecasting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D3D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Data: Kaggle Indian water quality data (Anbarivan.N.L). Criteria: CPCB Water Quality Criteria.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Water Quality Forecasting System - CSE276 CA1 (P18)">
  <a:themeElements>
    <a:clrScheme name="AI Water Quality Forecasting System - CSE276 CA1 (P18)">
      <a:dk1>
        <a:srgbClr val="1A2B36"/>
      </a:dk1>
      <a:lt1>
        <a:srgbClr val="F6F8F9"/>
      </a:lt1>
      <a:dk2>
        <a:srgbClr val="515E67"/>
      </a:dk2>
      <a:lt2>
        <a:srgbClr val="E0E4E6"/>
      </a:lt2>
      <a:accent1>
        <a:srgbClr val="0F8B8D"/>
      </a:accent1>
      <a:accent2>
        <a:srgbClr val="C4620F"/>
      </a:accent2>
      <a:accent3>
        <a:srgbClr val="17405A"/>
      </a:accent3>
      <a:accent4>
        <a:srgbClr val="F2B36B"/>
      </a:accent4>
      <a:accent5>
        <a:srgbClr val="E07A1F"/>
      </a:accent5>
      <a:accent6>
        <a:srgbClr val="B9D3DF"/>
      </a:accent6>
      <a:hlink>
        <a:srgbClr val="0563C1"/>
      </a:hlink>
      <a:folHlink>
        <a:srgbClr val="954F72"/>
      </a:folHlink>
    </a:clrScheme>
    <a:fontScheme name="AI Water Quality Forecasting System - CSE276 CA1 (P18)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Water Quality Forecasting System - CSE276 CA1 (P18)</dc:title>
  <dc:subject/>
  <dc:creator/>
  <cp:lastModifiedBy/>
  <cp:revision>1</cp:revision>
  <dcterms:created xsi:type="dcterms:W3CDTF">2026-10-27T09:14:29Z</dcterms:created>
  <dcterms:modified xsi:type="dcterms:W3CDTF">2026-10-27T09:14:29Z</dcterms:modified>
</cp:coreProperties>
</file>